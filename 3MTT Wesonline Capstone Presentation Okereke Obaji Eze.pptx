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60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programme, and state that this project predicts customer churn for telecom operators using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churn problem in the Nigerian context. Emphasise that the problem is both costly and currently unsolved for most local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project does and why the approach is different from existing options. Emphasise that it is built on open-source tools and is directly deployable.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tool and briefly explain why it was chosen. Scikit-learn handled all the machine learning; Power BI made results accessible to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6-step pipeline. For step 4, explain that the 80/20 split means the model was tested on data it had never seen. For step 6, explain that AUC of 0.83 proves genuine learning, not just majority-class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your model results and key findings. If doing a live demo, switch to Power BI here and walk through the dashboard visuals briefly. Always have these slides as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built and achieved. Highlight the GitHub link. Mention one key lesson learned.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Analytics Tool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303520" cy="36576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Okereke Obaji Eze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Abdulhafiz Ahmed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3MTT Nigeria  |  Cohort 3  |  Wesonline Mentorship Programme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Analysis &amp; Visualization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822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40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828800"/>
            <a:ext cx="1645920" cy="274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1965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29400" y="2560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926080"/>
            <a:ext cx="1645920" cy="274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3063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29400" y="3657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2377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51760" cy="45720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Nigerian telecom subscribers churn annually across MTN, Airtel, Glo, and 9mobile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72968" y="1143000"/>
            <a:ext cx="2651760" cy="2377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1143000"/>
            <a:ext cx="2651760" cy="4572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72968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82696" y="16916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 a new customer than to retain an existing 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25896" y="1143000"/>
            <a:ext cx="2651760" cy="2377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25896" y="1143000"/>
            <a:ext cx="265176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25896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35624" y="169164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respond after customers leave — no early warning or prevention system exists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8503920" cy="8229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telecom sector serves 220M+ subscribers and contributes ~14% to GDP. As competition intensifies, subscriber retention has become a boardroom priority — yet no affordable predictive tool exists for local operators.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project does: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960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pipeline that analyses telecom subscriber data and generates a churn risk score for every customer — allowing retention teams to identify and target at-risk subscribers before they disconnect.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233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164592" cy="71323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expensive enterprise CRM tools required — fully reproducible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164592" cy="7132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 named — TotalCharges, Tenure, MonthlyCharges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0233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164592" cy="7132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Dashboard-ready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4142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8 visuals for instant business decisions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40233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794760"/>
            <a:ext cx="164592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context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4142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for MTN, Airtel, Glo deployment with local market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5544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data cleaning, EDA, and model building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20624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52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5544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cleaning, and numerical operations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42062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4206240" cy="38404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414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281635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and exploratory analysis charts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59152"/>
            <a:ext cx="42062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359152"/>
            <a:ext cx="4206240" cy="384048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414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281635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train-test split, StandardScaler, evaluation metrics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21024"/>
            <a:ext cx="42062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4206240" cy="384048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407822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8-visual dashboard for business stakeholders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20624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621024"/>
            <a:ext cx="4206240" cy="384048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64608" y="407822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presentation environment for the full pipeline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143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64592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490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Churn dataset (Kaggle) — 7,043 rows, 21 columns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206240" cy="1143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164592" cy="1143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490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TotalCharges type error, dropped 11 nulls, encoded Churn 0/1, removed CustomerID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206240" cy="1143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164592" cy="11430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contract, tenure, charges, internet service — Matplotlib &amp; Seaborn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206240" cy="1143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164592" cy="11430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2450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10912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80/20 train-test split, StandardScaler normalisation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75888"/>
            <a:ext cx="4206240" cy="1143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164592" cy="114300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 + Random Forest (100 trees) — both trained on 5,625 records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75888"/>
            <a:ext cx="4206240" cy="1143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675888"/>
            <a:ext cx="164592" cy="114300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78.68%, Precision 62%, Recall 52%, F1 56%, AUC-ROC 0.83 on 1,407 test records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Outputs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38404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37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837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78.68% 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837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78.46%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4114800" cy="38404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258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258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258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633472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6791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54096"/>
            <a:ext cx="4114800" cy="384048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099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099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099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74720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(Churn)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8953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Logistic Regression — higher accuracy &amp; AUC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Findings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1371600"/>
            <a:ext cx="41148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1371600"/>
            <a:ext cx="137160" cy="7132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42.71%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194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 rate vs 2.85% two-year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2194560"/>
            <a:ext cx="41148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2194560"/>
            <a:ext cx="137160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26.58%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919472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— 1 in 4 customers leave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41148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017520"/>
            <a:ext cx="137160" cy="7132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9472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19472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subscribers churn vs 7% no internet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3840480"/>
            <a:ext cx="411480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3840480"/>
            <a:ext cx="137160" cy="71323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19472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band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19472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charge band at ~38%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-4505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46117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7EA0C7-80E4-5A38-25FA-0C52EF64DDE0}"/>
              </a:ext>
            </a:extLst>
          </p:cNvPr>
          <p:cNvGrpSpPr/>
          <p:nvPr/>
        </p:nvGrpSpPr>
        <p:grpSpPr>
          <a:xfrm>
            <a:off x="457200" y="826938"/>
            <a:ext cx="5285232" cy="310896"/>
            <a:chOff x="457200" y="1463040"/>
            <a:chExt cx="5285232" cy="310896"/>
          </a:xfrm>
        </p:grpSpPr>
        <p:sp>
          <p:nvSpPr>
            <p:cNvPr id="6" name="Shape 4"/>
            <p:cNvSpPr/>
            <p:nvPr/>
          </p:nvSpPr>
          <p:spPr>
            <a:xfrm>
              <a:off x="457200" y="1481328"/>
              <a:ext cx="256032" cy="256032"/>
            </a:xfrm>
            <a:prstGeom prst="rect">
              <a:avLst/>
            </a:prstGeom>
            <a:solidFill>
              <a:srgbClr val="E8483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04672" y="1463040"/>
              <a:ext cx="4937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7,032 customer records cleaned, engineered, and modelled end-to-end</a:t>
              </a:r>
              <a:endParaRPr 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8E12F9B-C8CC-85A0-2AD2-870871633DD5}"/>
              </a:ext>
            </a:extLst>
          </p:cNvPr>
          <p:cNvGrpSpPr/>
          <p:nvPr/>
        </p:nvGrpSpPr>
        <p:grpSpPr>
          <a:xfrm>
            <a:off x="457200" y="1357290"/>
            <a:ext cx="5285232" cy="310896"/>
            <a:chOff x="457200" y="1993392"/>
            <a:chExt cx="5285232" cy="310896"/>
          </a:xfrm>
        </p:grpSpPr>
        <p:sp>
          <p:nvSpPr>
            <p:cNvPr id="8" name="Shape 6"/>
            <p:cNvSpPr/>
            <p:nvPr/>
          </p:nvSpPr>
          <p:spPr>
            <a:xfrm>
              <a:off x="457200" y="2011680"/>
              <a:ext cx="256032" cy="256032"/>
            </a:xfrm>
            <a:prstGeom prst="rect">
              <a:avLst/>
            </a:prstGeom>
            <a:solidFill>
              <a:srgbClr val="E8483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804672" y="1993392"/>
              <a:ext cx="4937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Contract type, tenure, and monthly charges are the strongest churn predictors</a:t>
              </a:r>
              <a:endParaRPr lang="en-US" sz="12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21D5F22-B97E-ABA9-5076-63D988E6D8F8}"/>
              </a:ext>
            </a:extLst>
          </p:cNvPr>
          <p:cNvGrpSpPr/>
          <p:nvPr/>
        </p:nvGrpSpPr>
        <p:grpSpPr>
          <a:xfrm>
            <a:off x="457200" y="1887642"/>
            <a:ext cx="5285232" cy="310896"/>
            <a:chOff x="457200" y="2523744"/>
            <a:chExt cx="5285232" cy="310896"/>
          </a:xfrm>
        </p:grpSpPr>
        <p:sp>
          <p:nvSpPr>
            <p:cNvPr id="10" name="Shape 8"/>
            <p:cNvSpPr/>
            <p:nvPr/>
          </p:nvSpPr>
          <p:spPr>
            <a:xfrm>
              <a:off x="457200" y="2542032"/>
              <a:ext cx="256032" cy="256032"/>
            </a:xfrm>
            <a:prstGeom prst="rect">
              <a:avLst/>
            </a:prstGeom>
            <a:solidFill>
              <a:srgbClr val="E8483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804672" y="2523744"/>
              <a:ext cx="4937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Logistic Regression achieved 78.68% accuracy and AUC-ROC of 0.83</a:t>
              </a:r>
              <a:endParaRPr lang="en-US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410835-03DA-5CDA-CFE4-8FC9AE392655}"/>
              </a:ext>
            </a:extLst>
          </p:cNvPr>
          <p:cNvGrpSpPr/>
          <p:nvPr/>
        </p:nvGrpSpPr>
        <p:grpSpPr>
          <a:xfrm>
            <a:off x="457200" y="2417994"/>
            <a:ext cx="5285232" cy="310896"/>
            <a:chOff x="457200" y="3054096"/>
            <a:chExt cx="5285232" cy="310896"/>
          </a:xfrm>
        </p:grpSpPr>
        <p:sp>
          <p:nvSpPr>
            <p:cNvPr id="12" name="Shape 10"/>
            <p:cNvSpPr/>
            <p:nvPr/>
          </p:nvSpPr>
          <p:spPr>
            <a:xfrm>
              <a:off x="457200" y="3072384"/>
              <a:ext cx="256032" cy="256032"/>
            </a:xfrm>
            <a:prstGeom prst="rect">
              <a:avLst/>
            </a:prstGeom>
            <a:solidFill>
              <a:srgbClr val="E8483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804672" y="3054096"/>
              <a:ext cx="4937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 BI dashboard delivers 8 ready-to-use business visuals</a:t>
              </a:r>
              <a:endParaRPr 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31B2C6-AEF6-3589-FED7-21F97FD2D02C}"/>
              </a:ext>
            </a:extLst>
          </p:cNvPr>
          <p:cNvGrpSpPr/>
          <p:nvPr/>
        </p:nvGrpSpPr>
        <p:grpSpPr>
          <a:xfrm>
            <a:off x="457200" y="2948346"/>
            <a:ext cx="5285232" cy="310896"/>
            <a:chOff x="457200" y="3584448"/>
            <a:chExt cx="5285232" cy="310896"/>
          </a:xfrm>
        </p:grpSpPr>
        <p:sp>
          <p:nvSpPr>
            <p:cNvPr id="14" name="Shape 12"/>
            <p:cNvSpPr/>
            <p:nvPr/>
          </p:nvSpPr>
          <p:spPr>
            <a:xfrm>
              <a:off x="457200" y="3602736"/>
              <a:ext cx="256032" cy="256032"/>
            </a:xfrm>
            <a:prstGeom prst="rect">
              <a:avLst/>
            </a:prstGeom>
            <a:solidFill>
              <a:srgbClr val="E8483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804672" y="3584448"/>
              <a:ext cx="49377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code, docs, and dashboard available on GitHub</a:t>
              </a:r>
              <a:endParaRPr lang="en-US" sz="12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365760" y="32950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5443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483A"/>
                </a:solidFill>
              </a:rPr>
              <a:t>Building this project as a first-time exposure to machine learning — navigating concepts like Logistic Regression, Random Forest, one-hot encoding, train-test splitting, and model evaluation from scratch, with no prior experience in predictive modelling</a:t>
            </a:r>
          </a:p>
        </p:txBody>
      </p:sp>
      <p:sp>
        <p:nvSpPr>
          <p:cNvPr id="18" name="Text 16"/>
          <p:cNvSpPr/>
          <p:nvPr/>
        </p:nvSpPr>
        <p:spPr>
          <a:xfrm>
            <a:off x="6080760" y="457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651760" cy="804672"/>
          </a:xfrm>
          <a:prstGeom prst="rect">
            <a:avLst/>
          </a:prstGeom>
          <a:solidFill>
            <a:srgbClr val="16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0058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real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operator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920240"/>
            <a:ext cx="2651760" cy="804672"/>
          </a:xfrm>
          <a:prstGeom prst="rect">
            <a:avLst/>
          </a:prstGeom>
          <a:solidFill>
            <a:srgbClr val="16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20116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804672"/>
          </a:xfrm>
          <a:prstGeom prst="rect">
            <a:avLst/>
          </a:prstGeom>
          <a:solidFill>
            <a:srgbClr val="16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30175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deployable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2651760" cy="804672"/>
          </a:xfrm>
          <a:prstGeom prst="rect">
            <a:avLst/>
          </a:prstGeom>
          <a:solidFill>
            <a:srgbClr val="16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40233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telecom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90118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github.com/obj247/customer-churn-prediction</a:t>
            </a:r>
            <a:endParaRPr lang="en-US" sz="10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B2F9318F-38C0-0218-3AF1-59A5A9651DAE}"/>
              </a:ext>
            </a:extLst>
          </p:cNvPr>
          <p:cNvSpPr/>
          <p:nvPr/>
        </p:nvSpPr>
        <p:spPr>
          <a:xfrm>
            <a:off x="457200" y="41321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Every concept becomes clearer when applied to real data. Working through the full pipeline — from raw CSV to a live Power BI dashboard — built genuine understanding that no classroom exercise alone could have achieved. AUC-ROC is a more reliable measure than accuracy alone when classes are imbalanced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06736F-B06C-7B17-C713-B7D070210375}"/>
              </a:ext>
            </a:extLst>
          </p:cNvPr>
          <p:cNvSpPr/>
          <p:nvPr/>
        </p:nvSpPr>
        <p:spPr>
          <a:xfrm>
            <a:off x="457200" y="3544392"/>
            <a:ext cx="5285232" cy="502920"/>
          </a:xfrm>
          <a:prstGeom prst="rect">
            <a:avLst/>
          </a:prstGeom>
          <a:noFill/>
          <a:ln>
            <a:solidFill>
              <a:srgbClr val="E848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27E302-10B2-F9F4-5312-193075783911}"/>
              </a:ext>
            </a:extLst>
          </p:cNvPr>
          <p:cNvSpPr/>
          <p:nvPr/>
        </p:nvSpPr>
        <p:spPr>
          <a:xfrm>
            <a:off x="443948" y="4079112"/>
            <a:ext cx="5303520" cy="6044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886</Words>
  <Application>Microsoft Office PowerPoint</Application>
  <PresentationFormat>On-screen Show (16:9)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Obaji Okereke</cp:lastModifiedBy>
  <cp:revision>2</cp:revision>
  <dcterms:created xsi:type="dcterms:W3CDTF">2026-07-31T11:08:16Z</dcterms:created>
  <dcterms:modified xsi:type="dcterms:W3CDTF">2026-07-31T12:04:29Z</dcterms:modified>
</cp:coreProperties>
</file>